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099" r:id="rId5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pos="3368" userDrawn="1">
          <p15:clr>
            <a:srgbClr val="A4A3A4"/>
          </p15:clr>
        </p15:guide>
        <p15:guide id="2" pos="3489" userDrawn="1">
          <p15:clr>
            <a:srgbClr val="A4A3A4"/>
          </p15:clr>
        </p15:guide>
        <p15:guide id="3" orient="horz" pos="2381" userDrawn="1">
          <p15:clr>
            <a:srgbClr val="A4A3A4"/>
          </p15:clr>
        </p15:guide>
        <p15:guide id="5" pos="3246" userDrawn="1">
          <p15:clr>
            <a:srgbClr val="A4A3A4"/>
          </p15:clr>
        </p15:guide>
        <p15:guide id="7" orient="horz" pos="2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2026/6/7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58F5-A81B-84D6-F7A5-159FF9CB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CF9AE3-9F4C-B879-936D-5958A9C54F4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br>
              <a:rPr lang="ja-JP" altLang="en-US" sz="2200" spc="-54"/>
            </a:br>
            <a:endParaRPr kumimoji="1" lang="ja-JP" altLang="en-US" sz="22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2A8FEE-8E0B-512C-9DB7-5E18155BD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endParaRPr lang="en-US" altLang="ja-JP" sz="1400" b="1" dirty="0"/>
          </a:p>
        </p:txBody>
      </p:sp>
      <p:sp>
        <p:nvSpPr>
          <p:cNvPr id="72" name="object 8">
            <a:extLst>
              <a:ext uri="{FF2B5EF4-FFF2-40B4-BE49-F238E27FC236}">
                <a16:creationId xmlns:a16="http://schemas.microsoft.com/office/drawing/2014/main" id="{BFD69264-C250-F2C8-E86F-DDA5373E5189}"/>
              </a:ext>
            </a:extLst>
          </p:cNvPr>
          <p:cNvSpPr/>
          <p:nvPr/>
        </p:nvSpPr>
        <p:spPr>
          <a:xfrm>
            <a:off x="355917" y="1700387"/>
            <a:ext cx="6120000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7" name="Source 3">
            <a:extLst>
              <a:ext uri="{FF2B5EF4-FFF2-40B4-BE49-F238E27FC236}">
                <a16:creationId xmlns:a16="http://schemas.microsoft.com/office/drawing/2014/main" id="{033AAEFA-A36C-24D9-39CB-B899DF757F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endParaRPr kumimoji="1" lang="en-US" altLang="ja-JP" sz="600"/>
          </a:p>
          <a:p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endParaRPr kumimoji="1" lang="ja-JP" altLang="en-US" sz="60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32C778C-1A54-5B4D-BF81-752AD85837B3}"/>
              </a:ext>
            </a:extLst>
          </p:cNvPr>
          <p:cNvSpPr/>
          <p:nvPr/>
        </p:nvSpPr>
        <p:spPr>
          <a:xfrm>
            <a:off x="6619239" y="1700387"/>
            <a:ext cx="3591114" cy="45719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73" name="SECTION_LEFT_TITLE"/>
          <p:cNvSpPr txBox="1"/>
          <p:nvPr/>
        </p:nvSpPr>
        <p:spPr>
          <a:xfrm>
            <a:off x="374904" y="1417320"/>
            <a:ext cx="6217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sz="1200" b="1">
                <a:latin typeface="Yu Gothic UI"/>
                <a:ea typeface="Yu Gothic UI"/>
              </a:rPr>
              <a:t>ポジショニングマップ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5458055-0BD9-DDD6-FA15-B42807D98B16}"/>
              </a:ext>
            </a:extLst>
          </p:cNvPr>
          <p:cNvGrpSpPr/>
          <p:nvPr/>
        </p:nvGrpSpPr>
        <p:grpSpPr>
          <a:xfrm>
            <a:off x="557784" y="2057400"/>
            <a:ext cx="5852160" cy="4590288"/>
            <a:chOff x="557784" y="2057400"/>
            <a:chExt cx="5852160" cy="4590288"/>
          </a:xfrm>
        </p:grpSpPr>
        <p:sp>
          <p:nvSpPr>
            <p:cNvPr id="74" name="MAP_FRAME"/>
            <p:cNvSpPr/>
            <p:nvPr/>
          </p:nvSpPr>
          <p:spPr>
            <a:xfrm>
              <a:off x="1060704" y="2057400"/>
              <a:ext cx="5349240" cy="4069080"/>
            </a:xfrm>
            <a:prstGeom prst="rect">
              <a:avLst/>
            </a:prstGeom>
            <a:solidFill>
              <a:srgbClr val="FAFAFA"/>
            </a:solidFill>
            <a:ln w="12700">
              <a:solidFill>
                <a:srgbClr val="241A1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cxnSp>
          <p:nvCxnSpPr>
            <p:cNvPr id="75" name="MAP_GUIDE_V"/>
            <p:cNvCxnSpPr/>
            <p:nvPr/>
          </p:nvCxnSpPr>
          <p:spPr>
            <a:xfrm>
              <a:off x="3735324" y="2057400"/>
              <a:ext cx="0" cy="4069080"/>
            </a:xfrm>
            <a:prstGeom prst="line">
              <a:avLst/>
            </a:prstGeom>
            <a:ln w="9525">
              <a:solidFill>
                <a:srgbClr val="C0C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MAP_GUIDE_H"/>
            <p:cNvCxnSpPr/>
            <p:nvPr/>
          </p:nvCxnSpPr>
          <p:spPr>
            <a:xfrm>
              <a:off x="1060704" y="4091939"/>
              <a:ext cx="5349240" cy="0"/>
            </a:xfrm>
            <a:prstGeom prst="line">
              <a:avLst/>
            </a:prstGeom>
            <a:ln w="9525">
              <a:solidFill>
                <a:srgbClr val="C0C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AXIS_X_LABEL"/>
            <p:cNvSpPr txBox="1"/>
            <p:nvPr/>
          </p:nvSpPr>
          <p:spPr>
            <a:xfrm>
              <a:off x="1060704" y="6419088"/>
              <a:ext cx="534924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ja-JP" sz="1400" b="1">
                  <a:latin typeface="Yu Gothic UI"/>
                  <a:ea typeface="Yu Gothic UI"/>
                </a:rPr>
                <a:t>（X軸ラベル）</a:t>
              </a:r>
            </a:p>
          </p:txBody>
        </p:sp>
        <p:sp>
          <p:nvSpPr>
            <p:cNvPr id="78" name="AXIS_X_LOW"/>
            <p:cNvSpPr txBox="1"/>
            <p:nvPr/>
          </p:nvSpPr>
          <p:spPr>
            <a:xfrm>
              <a:off x="1060704" y="6172200"/>
              <a:ext cx="164592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ja-JP" sz="1000">
                  <a:latin typeface="Yu Gothic UI"/>
                  <a:ea typeface="Yu Gothic UI"/>
                </a:rPr>
                <a:t>← 低</a:t>
              </a:r>
            </a:p>
          </p:txBody>
        </p:sp>
        <p:sp>
          <p:nvSpPr>
            <p:cNvPr id="79" name="AXIS_X_HIGH"/>
            <p:cNvSpPr txBox="1"/>
            <p:nvPr/>
          </p:nvSpPr>
          <p:spPr>
            <a:xfrm>
              <a:off x="4764024" y="6172200"/>
              <a:ext cx="164592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ja-JP" sz="1000">
                  <a:latin typeface="Yu Gothic UI"/>
                  <a:ea typeface="Yu Gothic UI"/>
                </a:rPr>
                <a:t>高 →</a:t>
              </a:r>
            </a:p>
          </p:txBody>
        </p:sp>
        <p:sp>
          <p:nvSpPr>
            <p:cNvPr id="80" name="AXIS_Y_LABEL"/>
            <p:cNvSpPr txBox="1"/>
            <p:nvPr/>
          </p:nvSpPr>
          <p:spPr>
            <a:xfrm rot="16200000">
              <a:off x="-219456" y="3951257"/>
              <a:ext cx="182880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ja-JP" sz="1400" b="1">
                  <a:latin typeface="Yu Gothic UI"/>
                  <a:ea typeface="Yu Gothic UI"/>
                </a:rPr>
                <a:t>（Y軸ラベル）</a:t>
              </a:r>
            </a:p>
          </p:txBody>
        </p:sp>
        <p:sp>
          <p:nvSpPr>
            <p:cNvPr id="81" name="AXIS_Y_HIGH"/>
            <p:cNvSpPr txBox="1"/>
            <p:nvPr/>
          </p:nvSpPr>
          <p:spPr>
            <a:xfrm rot="16200000">
              <a:off x="332703" y="2529096"/>
              <a:ext cx="109728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lang="ja-JP" sz="1000">
                  <a:latin typeface="Yu Gothic UI"/>
                  <a:ea typeface="Yu Gothic UI"/>
                </a:rPr>
                <a:t>高 →</a:t>
              </a:r>
            </a:p>
          </p:txBody>
        </p:sp>
        <p:sp>
          <p:nvSpPr>
            <p:cNvPr id="82" name="AXIS_Y_LOW"/>
            <p:cNvSpPr txBox="1"/>
            <p:nvPr/>
          </p:nvSpPr>
          <p:spPr>
            <a:xfrm rot="16200000">
              <a:off x="332703" y="5500896"/>
              <a:ext cx="109728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ja-JP" sz="1000">
                  <a:latin typeface="Yu Gothic UI"/>
                  <a:ea typeface="Yu Gothic UI"/>
                </a:rPr>
                <a:t>← 低</a:t>
              </a:r>
            </a:p>
          </p:txBody>
        </p:sp>
        <p:sp>
          <p:nvSpPr>
            <p:cNvPr id="83" name="QUAD_TL"/>
            <p:cNvSpPr txBox="1"/>
            <p:nvPr/>
          </p:nvSpPr>
          <p:spPr>
            <a:xfrm>
              <a:off x="1170431" y="2150479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ja-JP" sz="1200" i="1">
                  <a:latin typeface="Yu Gothic UI"/>
                  <a:ea typeface="Yu Gothic UI"/>
                </a:rPr>
                <a:t>（左上象限）</a:t>
              </a:r>
            </a:p>
          </p:txBody>
        </p:sp>
        <p:sp>
          <p:nvSpPr>
            <p:cNvPr id="84" name="QUAD_TR"/>
            <p:cNvSpPr txBox="1"/>
            <p:nvPr/>
          </p:nvSpPr>
          <p:spPr>
            <a:xfrm>
              <a:off x="4288536" y="2150479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ja-JP" sz="1200" i="1">
                  <a:latin typeface="Yu Gothic UI"/>
                  <a:ea typeface="Yu Gothic UI"/>
                </a:rPr>
                <a:t>（右上象限）</a:t>
              </a:r>
            </a:p>
          </p:txBody>
        </p:sp>
        <p:sp>
          <p:nvSpPr>
            <p:cNvPr id="85" name="QUAD_BL"/>
            <p:cNvSpPr txBox="1"/>
            <p:nvPr/>
          </p:nvSpPr>
          <p:spPr>
            <a:xfrm>
              <a:off x="1170431" y="5824728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ja-JP" sz="1200" i="1">
                  <a:latin typeface="Yu Gothic UI"/>
                  <a:ea typeface="Yu Gothic UI"/>
                </a:rPr>
                <a:t>（左下象限）</a:t>
              </a:r>
            </a:p>
          </p:txBody>
        </p:sp>
        <p:sp>
          <p:nvSpPr>
            <p:cNvPr id="86" name="QUAD_BR"/>
            <p:cNvSpPr txBox="1"/>
            <p:nvPr/>
          </p:nvSpPr>
          <p:spPr>
            <a:xfrm>
              <a:off x="4288536" y="5824728"/>
              <a:ext cx="201168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ja-JP" sz="1200" i="1">
                  <a:latin typeface="Yu Gothic UI"/>
                  <a:ea typeface="Yu Gothic UI"/>
                </a:rPr>
                <a:t>（右下象限）</a:t>
              </a:r>
            </a:p>
          </p:txBody>
        </p:sp>
      </p:grpSp>
      <p:sp>
        <p:nvSpPr>
          <p:cNvPr id="87" name="IMPL_TITLE"/>
          <p:cNvSpPr txBox="1"/>
          <p:nvPr/>
        </p:nvSpPr>
        <p:spPr>
          <a:xfrm>
            <a:off x="6684264" y="1417320"/>
            <a:ext cx="36393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sz="1200" b="1">
                <a:latin typeface="Yu Gothic UI"/>
                <a:ea typeface="Yu Gothic UI"/>
              </a:rPr>
              <a:t>ポジショニングからの示唆</a:t>
            </a:r>
          </a:p>
        </p:txBody>
      </p:sp>
      <p:sp>
        <p:nvSpPr>
          <p:cNvPr id="88" name="IMPL_1"/>
          <p:cNvSpPr txBox="1"/>
          <p:nvPr/>
        </p:nvSpPr>
        <p:spPr>
          <a:xfrm>
            <a:off x="6729983" y="1874519"/>
            <a:ext cx="3547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7C4C2C"/>
              </a:buClr>
              <a:buFont typeface="Arial"/>
              <a:buChar char="●"/>
            </a:pPr>
            <a:r>
              <a:rPr lang="ja-JP" sz="1000">
                <a:latin typeface="Yu Gothic UI"/>
                <a:ea typeface="Yu Gothic UI"/>
              </a:rPr>
              <a:t>（示唆 1）</a:t>
            </a:r>
          </a:p>
        </p:txBody>
      </p:sp>
      <p:sp>
        <p:nvSpPr>
          <p:cNvPr id="89" name="IMPL_2"/>
          <p:cNvSpPr txBox="1"/>
          <p:nvPr/>
        </p:nvSpPr>
        <p:spPr>
          <a:xfrm>
            <a:off x="6729983" y="2514600"/>
            <a:ext cx="3547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7C4C2C"/>
              </a:buClr>
              <a:buFont typeface="Arial"/>
              <a:buChar char="●"/>
            </a:pPr>
            <a:r>
              <a:rPr lang="ja-JP" sz="1000">
                <a:latin typeface="Yu Gothic UI"/>
                <a:ea typeface="Yu Gothic UI"/>
              </a:rPr>
              <a:t>（示唆 2）</a:t>
            </a:r>
          </a:p>
        </p:txBody>
      </p:sp>
      <p:sp>
        <p:nvSpPr>
          <p:cNvPr id="90" name="IMPL_3"/>
          <p:cNvSpPr txBox="1"/>
          <p:nvPr/>
        </p:nvSpPr>
        <p:spPr>
          <a:xfrm>
            <a:off x="6729983" y="3154679"/>
            <a:ext cx="3547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7C4C2C"/>
              </a:buClr>
              <a:buFont typeface="Arial"/>
              <a:buChar char="●"/>
            </a:pPr>
            <a:r>
              <a:rPr lang="ja-JP" sz="1000">
                <a:latin typeface="Yu Gothic UI"/>
                <a:ea typeface="Yu Gothic UI"/>
              </a:rPr>
              <a:t>（示唆 3）</a:t>
            </a:r>
          </a:p>
        </p:txBody>
      </p:sp>
      <p:sp>
        <p:nvSpPr>
          <p:cNvPr id="91" name="IMPL_4"/>
          <p:cNvSpPr txBox="1"/>
          <p:nvPr/>
        </p:nvSpPr>
        <p:spPr>
          <a:xfrm>
            <a:off x="6729983" y="3794759"/>
            <a:ext cx="3547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7C4C2C"/>
              </a:buClr>
              <a:buFont typeface="Arial"/>
              <a:buChar char="●"/>
            </a:pPr>
            <a:r>
              <a:rPr lang="ja-JP" sz="1000">
                <a:latin typeface="Yu Gothic UI"/>
                <a:ea typeface="Yu Gothic UI"/>
              </a:rPr>
              <a:t>（示唆 4）</a:t>
            </a:r>
          </a:p>
        </p:txBody>
      </p:sp>
      <p:sp>
        <p:nvSpPr>
          <p:cNvPr id="92" name="IMPL_5"/>
          <p:cNvSpPr txBox="1"/>
          <p:nvPr/>
        </p:nvSpPr>
        <p:spPr>
          <a:xfrm>
            <a:off x="6729983" y="4434840"/>
            <a:ext cx="3547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0000" indent="-220000" algn="l">
              <a:buClr>
                <a:srgbClr val="7C4C2C"/>
              </a:buClr>
              <a:buFont typeface="Arial"/>
              <a:buChar char="●"/>
            </a:pPr>
            <a:r>
              <a:rPr lang="ja-JP" sz="1000">
                <a:latin typeface="Yu Gothic UI"/>
                <a:ea typeface="Yu Gothic UI"/>
              </a:rPr>
              <a:t>（示唆 5）</a:t>
            </a:r>
          </a:p>
        </p:txBody>
      </p:sp>
    </p:spTree>
    <p:extLst>
      <p:ext uri="{BB962C8B-B14F-4D97-AF65-F5344CB8AC3E}">
        <p14:creationId xmlns:p14="http://schemas.microsoft.com/office/powerpoint/2010/main" val="214963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Props1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55</Words>
  <Application>Microsoft Macintosh PowerPoint</Application>
  <PresentationFormat>ユーザー設定</PresentationFormat>
  <Paragraphs>22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Yu Gothic UI</vt:lpstr>
      <vt:lpstr>游ゴシック</vt:lpstr>
      <vt:lpstr>Arial</vt:lpstr>
      <vt:lpstr>Wingdings</vt:lpstr>
      <vt:lpstr>Wingdings 2</vt:lpstr>
      <vt:lpstr>Office Theme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5</cp:revision>
  <cp:lastPrinted>2025-09-22T09:16:40Z</cp:lastPrinted>
  <dcterms:created xsi:type="dcterms:W3CDTF">2022-05-20T02:40:37Z</dcterms:created>
  <dcterms:modified xsi:type="dcterms:W3CDTF">2026-06-06T15:27:34Z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